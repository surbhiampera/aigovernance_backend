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9BE9"/>
    <a:srgbClr val="95135A"/>
    <a:srgbClr val="A62581"/>
    <a:srgbClr val="7C70B0"/>
    <a:srgbClr val="A627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5F5455-A53D-41F2-0A04-5366718662A6}" v="7" dt="2026-05-20T10:44:19.2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gnesh Jayabalan" userId="S::vignesh.jayabalan@amperatech.ai::dbf4d0ba-595a-48e8-a6d8-13571608b366" providerId="AD" clId="Web-{2C5F5455-A53D-41F2-0A04-5366718662A6}"/>
    <pc:docChg chg="addSld delSld">
      <pc:chgData name="Vignesh Jayabalan" userId="S::vignesh.jayabalan@amperatech.ai::dbf4d0ba-595a-48e8-a6d8-13571608b366" providerId="AD" clId="Web-{2C5F5455-A53D-41F2-0A04-5366718662A6}" dt="2026-05-20T10:44:19.255" v="6"/>
      <pc:docMkLst>
        <pc:docMk/>
      </pc:docMkLst>
      <pc:sldChg chg="del">
        <pc:chgData name="Vignesh Jayabalan" userId="S::vignesh.jayabalan@amperatech.ai::dbf4d0ba-595a-48e8-a6d8-13571608b366" providerId="AD" clId="Web-{2C5F5455-A53D-41F2-0A04-5366718662A6}" dt="2026-05-20T10:44:19.255" v="6"/>
        <pc:sldMkLst>
          <pc:docMk/>
          <pc:sldMk cId="2915342828" sldId="264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1.880" v="3"/>
        <pc:sldMkLst>
          <pc:docMk/>
          <pc:sldMk cId="2516542274" sldId="265"/>
        </pc:sldMkLst>
      </pc:sldChg>
      <pc:sldChg chg="new">
        <pc:chgData name="Vignesh Jayabalan" userId="S::vignesh.jayabalan@amperatech.ai::dbf4d0ba-595a-48e8-a6d8-13571608b366" providerId="AD" clId="Web-{2C5F5455-A53D-41F2-0A04-5366718662A6}" dt="2026-05-20T10:44:16.505" v="5"/>
        <pc:sldMkLst>
          <pc:docMk/>
          <pc:sldMk cId="2580340375" sldId="265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0.240" v="1"/>
        <pc:sldMkLst>
          <pc:docMk/>
          <pc:sldMk cId="2498336693" sldId="266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09.271" v="0"/>
        <pc:sldMkLst>
          <pc:docMk/>
          <pc:sldMk cId="1905233515" sldId="267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2.943" v="4"/>
        <pc:sldMkLst>
          <pc:docMk/>
          <pc:sldMk cId="4039275088" sldId="268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1.115" v="2"/>
        <pc:sldMkLst>
          <pc:docMk/>
          <pc:sldMk cId="76952953" sldId="269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87A05B-BCF1-DAB9-E886-8155FA414A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9DBDA-FB08-1050-49F8-776CE3A78F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EA3F83-5F2D-46BF-AC72-4044DF664E4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B2A4F-39A8-DC68-BF06-C44D20F4F46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7A6A7-958B-8FC1-2C15-72ABC803ED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0B0178-FEF7-45DB-BE31-4834171035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0706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4ED9C-6BF5-4DE2-9761-5F085BEF5629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E9387A-47F2-4C07-877C-C4ED31F433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8173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A47F1-10C9-C521-9B92-C9E4B837B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A295-C7A6-7FE9-E132-5AA719D89F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CBA9C-6580-462A-ACD7-51B9F173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9B97A-2822-4FA7-AC5F-C81229B63981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E1167-4A93-525F-0D66-EDE69E68F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EF577-0B7E-D975-3D77-093B87990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8426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F682-5F9B-EAA2-F58E-221FFC23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15754-9492-1C61-C866-0DA1D9E4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FD8A6-17A3-1394-80BA-C7A7CB44C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CBD53-B92E-48B5-AFC3-73CEBFFB511B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1EFA4-7D42-37CE-94F7-8394DE34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9CAF7-2783-2669-E136-826FB6837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6558" y="6356349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CB49424C-6115-45E7-8769-A62CB5C5E727}"/>
              </a:ext>
            </a:extLst>
          </p:cNvPr>
          <p:cNvSpPr/>
          <p:nvPr userDrawn="1"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6D55A6B0-649A-6A5F-3BEA-33983611C37A}"/>
              </a:ext>
            </a:extLst>
          </p:cNvPr>
          <p:cNvSpPr/>
          <p:nvPr userDrawn="1"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59EBCE84-3DBD-EC90-E777-573FD81F47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672" y="19579"/>
            <a:ext cx="1688327" cy="44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0BF43-40CE-98C8-F9BF-8150B2CA8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1EE4F-268E-DAE3-AE1B-82AC570AA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EFF31-655F-BB5B-729B-042D813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02FAF-046D-40E9-9D7B-08E225BC570B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D62DE-D475-EBBD-E91F-53FDB4219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1C8CE-DB0B-212D-703F-272046A3E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585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4C27C-8EE2-A4F8-97A7-7376D4901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13B0D-E52A-1272-D8D3-FA33FC1F6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A63EA-AA2B-2AB8-B640-4093C5DDB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AC556B-B2A8-6AF5-FD2F-819BE921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01B5D-3CCB-440B-A9BC-C2F3644E07C6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6E1670-508F-0474-1D6F-B13C01207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80DDF-00A7-5C8B-FFBD-54422D9B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177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A4DC-C136-CED9-5EC8-76D63A777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DC085-26E0-E0DE-D4EA-7E7E33343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479A4D-90C1-7ECB-3E9C-2F0397A41F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F01B5-BE00-AA16-5297-CDB7BC693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419509-9737-C27F-8A0B-85D8ACB6E3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33F7D6-3ECC-811E-D9DC-A58E657CB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E3585-6A74-4E1F-AE16-179A7F790079}" type="datetime1">
              <a:rPr lang="en-IN" smtClean="0"/>
              <a:t>20-05-2026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54DEFE-E8D6-22B3-3B73-DCCBCCD0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F0B49D-13DD-9539-3D46-6E10009A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49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9A6F9-1058-29C0-664D-BF2AC7BA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89854D-2408-0381-BDA9-8E1187786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375AF-062F-4540-9101-1557C987F90A}" type="datetime1">
              <a:rPr lang="en-IN" smtClean="0"/>
              <a:t>20-05-2026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F1ED3-7B13-E938-3F97-3C2A8DC8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69CA7-080D-1130-6CA6-961D026A8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784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ight Triangle 7">
            <a:extLst>
              <a:ext uri="{FF2B5EF4-FFF2-40B4-BE49-F238E27FC236}">
                <a16:creationId xmlns:a16="http://schemas.microsoft.com/office/drawing/2014/main" id="{EF4FB87B-F85E-4120-439E-C8CD0F87A03C}"/>
              </a:ext>
            </a:extLst>
          </p:cNvPr>
          <p:cNvSpPr/>
          <p:nvPr userDrawn="1"/>
        </p:nvSpPr>
        <p:spPr>
          <a:xfrm flipH="1">
            <a:off x="1299411" y="5943600"/>
            <a:ext cx="10892589" cy="914400"/>
          </a:xfrm>
          <a:prstGeom prst="rtTriangl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5B636A43-1419-28F5-49B9-6B6F5D02725C}"/>
              </a:ext>
            </a:extLst>
          </p:cNvPr>
          <p:cNvSpPr/>
          <p:nvPr userDrawn="1"/>
        </p:nvSpPr>
        <p:spPr>
          <a:xfrm>
            <a:off x="0" y="5943600"/>
            <a:ext cx="12192000" cy="9144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5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DE3D132C-07CD-40C2-5CEC-0B5EDF19AF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043" y="1862274"/>
            <a:ext cx="3687914" cy="970694"/>
          </a:xfrm>
          <a:prstGeom prst="rect">
            <a:avLst/>
          </a:prstGeom>
        </p:spPr>
      </p:pic>
      <p:pic>
        <p:nvPicPr>
          <p:cNvPr id="2050" name="Picture 2" descr="The Impact of Artificial Intelligence on Data Analytics">
            <a:extLst>
              <a:ext uri="{FF2B5EF4-FFF2-40B4-BE49-F238E27FC236}">
                <a16:creationId xmlns:a16="http://schemas.microsoft.com/office/drawing/2014/main" id="{CBB8C479-021E-895A-5E45-2807C3DF29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65995"/>
            <a:ext cx="12268200" cy="698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6051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5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7E676439-7B07-EDC1-DDB8-50CC7F100A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672" y="19579"/>
            <a:ext cx="1688327" cy="449083"/>
          </a:xfrm>
          <a:prstGeom prst="rect">
            <a:avLst/>
          </a:prstGeom>
        </p:spPr>
      </p:pic>
      <p:pic>
        <p:nvPicPr>
          <p:cNvPr id="2050" name="Picture 2" descr="The Impact of Artificial Intelligence on Data Analytics">
            <a:extLst>
              <a:ext uri="{FF2B5EF4-FFF2-40B4-BE49-F238E27FC236}">
                <a16:creationId xmlns:a16="http://schemas.microsoft.com/office/drawing/2014/main" id="{CBB8C479-021E-895A-5E45-2807C3DF29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65995"/>
            <a:ext cx="12268200" cy="698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267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36242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1687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1841B-3C2B-C041-214D-D552D50C3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18C89-E01F-DF36-8AAC-7B65AD0CB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CCE3DB-6643-0911-E41C-2F9B0E32BD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8D89F-672A-F4E8-6202-0091C8E4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B8DF3-7C4A-4D6D-8D8D-7974836861BB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5496A-7D6F-F6F3-6222-8A0D1E4FE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EC75D-D81C-F083-8109-D02A45954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8220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D24D-7453-C258-2E8F-F755B3BC3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58556A-5A14-034E-D4B9-4B7182B7D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CEAB0-FDCF-9FA8-F697-A263EAAA6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1954C-6B75-F6DC-3CD1-28C0A08F6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4CF2D-CD6C-4928-89D8-CE90058ED612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E33FA-EBBA-F748-3633-DAA617840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C3667C-A5EE-132C-352A-DBA10175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82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EC02-E537-A7C7-AE3D-C7DDA66F8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FA4C5-5C8B-A49C-498F-A078B1721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6A038-F97A-4094-BB72-B419D25AF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143FE-7BFF-4110-9BC7-442CEC665DF0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96452-011E-6D82-DCDC-CB996203A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3E0C6-F2E9-D7C6-4D96-E11C59D9C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9412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5DD16-8B59-21E3-BADC-B1297AF38C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F0664-F008-2C7F-F15E-FB453CFA97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8522E-FC0A-9D2B-E51F-D5F779A39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7F9D2-816E-49BD-BBAF-BC3E0FD5EDB6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47C78-88F5-BA94-A32E-AFF57DAF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8E0B1-AB0B-FB07-EC31-316CA055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84784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64A62A-39AD-C079-621B-2F503D391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00A3E-206A-B1AB-35C5-761D4EF36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E5993-10D5-0C37-CDFC-3192315FF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97C3B-2443-4F8D-B952-F4386CD09C8D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C1AA9-F7C7-CEE4-039D-D8698E872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A8B10-827F-2315-585A-4C23DD6F78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78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73" r:id="rId8"/>
    <p:sldLayoutId id="2147483672" r:id="rId9"/>
    <p:sldLayoutId id="2147483656" r:id="rId10"/>
    <p:sldLayoutId id="2147483657" r:id="rId11"/>
    <p:sldLayoutId id="2147483658" r:id="rId12"/>
    <p:sldLayoutId id="214748365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88F-526E-5A96-8FD5-D1E1A0C21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BB0BF-A5F5-2238-1B48-B14FC8560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02A2E-F85D-1643-EAB4-CE5FD6A5B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34037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28016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Open Sans"/>
              </a:rPr>
              <a:t>AI Governance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83464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C6F3"/>
                </a:solidFill>
                <a:latin typeface="Open Sans"/>
              </a:rPr>
              <a:t>Centralized control layer for enterprise AI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7033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C9BE9"/>
                </a:solidFill>
                <a:latin typeface="Open Sans"/>
              </a:rPr>
              <a:t>Secure  ·  Scalable  ·  Compliant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783080" cy="1645920"/>
          </a:xfrm>
          <a:prstGeom prst="rect">
            <a:avLst/>
          </a:prstGeom>
          <a:solidFill>
            <a:srgbClr val="F5F0FF"/>
          </a:solidFill>
          <a:ln w="12700">
            <a:solidFill>
              <a:srgbClr val="AC9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95135A"/>
                </a:solidFill>
                <a:latin typeface="Open Sans"/>
              </a:rPr>
              <a:t>Client
Teams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Enterprise apps,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internal tools &amp;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AI consumers</a:t>
            </a:r>
          </a:p>
        </p:txBody>
      </p:sp>
      <p:sp>
        <p:nvSpPr>
          <p:cNvPr id="5" name="Can 4"/>
          <p:cNvSpPr/>
          <p:nvPr/>
        </p:nvSpPr>
        <p:spPr>
          <a:xfrm>
            <a:off x="2907792" y="2889503"/>
            <a:ext cx="347472" cy="228600"/>
          </a:xfrm>
          <a:prstGeom prst="can">
            <a:avLst/>
          </a:prstGeom>
          <a:solidFill>
            <a:srgbClr val="951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37560" y="1737360"/>
            <a:ext cx="4754880" cy="2468880"/>
          </a:xfrm>
          <a:prstGeom prst="rect">
            <a:avLst/>
          </a:prstGeom>
          <a:solidFill>
            <a:srgbClr val="F8F0FF"/>
          </a:solidFill>
          <a:ln w="12700">
            <a:solidFill>
              <a:srgbClr val="951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95135A"/>
                </a:solidFill>
                <a:latin typeface="Open Sans"/>
              </a:rPr>
              <a:t>AI Governance Platform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────────────────────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Policy &amp; Access Control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PII Protection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Budget &amp; Rate Limiting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Audit Logging</a:t>
            </a:r>
          </a:p>
        </p:txBody>
      </p:sp>
      <p:sp>
        <p:nvSpPr>
          <p:cNvPr id="7" name="Can 6"/>
          <p:cNvSpPr/>
          <p:nvPr/>
        </p:nvSpPr>
        <p:spPr>
          <a:xfrm>
            <a:off x="8165592" y="2889503"/>
            <a:ext cx="347472" cy="228600"/>
          </a:xfrm>
          <a:prstGeom prst="can">
            <a:avLst/>
          </a:prstGeom>
          <a:solidFill>
            <a:srgbClr val="951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148840"/>
            <a:ext cx="2011680" cy="1645920"/>
          </a:xfrm>
          <a:prstGeom prst="rect">
            <a:avLst/>
          </a:prstGeom>
          <a:solidFill>
            <a:srgbClr val="F5F0FF"/>
          </a:solidFill>
          <a:ln w="12700">
            <a:solidFill>
              <a:srgbClr val="AC9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95135A"/>
                </a:solidFill>
                <a:latin typeface="Open Sans"/>
              </a:rPr>
              <a:t>AI Provider
(Azure OpenAI)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Processes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approved AI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requests</a:t>
            </a:r>
          </a:p>
        </p:txBody>
      </p:sp>
      <p:sp>
        <p:nvSpPr>
          <p:cNvPr id="9" name="Cube 8"/>
          <p:cNvSpPr/>
          <p:nvPr/>
        </p:nvSpPr>
        <p:spPr>
          <a:xfrm>
            <a:off x="5303520" y="4224528"/>
            <a:ext cx="228600" cy="320040"/>
          </a:xfrm>
          <a:prstGeom prst="cube">
            <a:avLst/>
          </a:prstGeom>
          <a:solidFill>
            <a:srgbClr val="897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4544568"/>
            <a:ext cx="4754880" cy="914400"/>
          </a:xfrm>
          <a:prstGeom prst="rect">
            <a:avLst/>
          </a:prstGeom>
          <a:solidFill>
            <a:srgbClr val="ECE8FF"/>
          </a:solidFill>
          <a:ln w="12700">
            <a:solidFill>
              <a:srgbClr val="897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8971E1"/>
                </a:solidFill>
                <a:latin typeface="Open Sans"/>
              </a:rPr>
              <a:t>Dashboard &amp; Analytics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Real-time visibility into usage, cost, and compliance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Intelligent Proxy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Single entry point for all AI API traffic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Every request from every team passes through one controlled gateway before reaching the AI provider.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Real-time policy enforcement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Identity is verified and access rules are applied instantly — models, token limits, and data policies.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Automatic PII masking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Sensitive information is detected and redacted before any data leaves the organization's boundary.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Transparent to end users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Teams interact with their existing workflows; the governance layer operates silently in the background.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Cost &amp; Budget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Real-time spend tracking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Costs are calculated instantly for every request, broken down by team, project, and AI model.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Enforced monthly budgets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Administrators set spending ceilings per team or project; requests are blocked automatically when limits are hit.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Proactive alerts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Configurable threshold notifications are sent before limits are reached, preventing unexpected disruptions.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Transparent cost reporting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Executives and finance teams get clear, aggregated usage reports with full traceability to individual teams.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Platform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Governance Rules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Controls which AI models and capabilities each team is permitted to access.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PII Protection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Automatically detects and masks sensitive personal data before it reaches the AI provider.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Rate Limiting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Prevents any single team from consuming a disproportionate share of shared resources.</a:t>
            </a:r>
          </a:p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Budget Control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Enforces monthly spend limits and blocks requests when allocations are exceeded.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Security &amp; Alerts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Monitors for anomalous usage patterns and delivers notifications to administrators.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Audit Logging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Records every request and governance decision, providing a complete compliance trail.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mper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95135A"/>
      </a:accent1>
      <a:accent2>
        <a:srgbClr val="A86DD9"/>
      </a:accent2>
      <a:accent3>
        <a:srgbClr val="D8D9DC"/>
      </a:accent3>
      <a:accent4>
        <a:srgbClr val="AC9BE9"/>
      </a:accent4>
      <a:accent5>
        <a:srgbClr val="8971E1"/>
      </a:accent5>
      <a:accent6>
        <a:srgbClr val="CFC6F3"/>
      </a:accent6>
      <a:hlink>
        <a:srgbClr val="1A4CC8"/>
      </a:hlink>
      <a:folHlink>
        <a:srgbClr val="A9DB66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E1B06A78D6F9045963DD1A73A167608" ma:contentTypeVersion="15" ma:contentTypeDescription="Create a new document." ma:contentTypeScope="" ma:versionID="f561b7d5d9b4b579e8a4060ac2e6ca83">
  <xsd:schema xmlns:xsd="http://www.w3.org/2001/XMLSchema" xmlns:xs="http://www.w3.org/2001/XMLSchema" xmlns:p="http://schemas.microsoft.com/office/2006/metadata/properties" xmlns:ns3="85defd81-062c-43ad-8066-b7b8ee7d218b" xmlns:ns4="a7a5ee82-ca89-4470-8b75-2cc9caf6bd2c" targetNamespace="http://schemas.microsoft.com/office/2006/metadata/properties" ma:root="true" ma:fieldsID="365ad1ffc70ab533e4d11bfc2a577901" ns3:_="" ns4:_="">
    <xsd:import namespace="85defd81-062c-43ad-8066-b7b8ee7d218b"/>
    <xsd:import namespace="a7a5ee82-ca89-4470-8b75-2cc9caf6bd2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defd81-062c-43ad-8066-b7b8ee7d218b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ee82-ca89-4470-8b75-2cc9caf6bd2c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5defd81-062c-43ad-8066-b7b8ee7d218b" xsi:nil="true"/>
  </documentManagement>
</p:properties>
</file>

<file path=customXml/itemProps1.xml><?xml version="1.0" encoding="utf-8"?>
<ds:datastoreItem xmlns:ds="http://schemas.openxmlformats.org/officeDocument/2006/customXml" ds:itemID="{A7D9CEBC-BA30-4849-A4A7-FE02420206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13A6DE-B4A0-46A2-89D8-F798AB7D338C}">
  <ds:schemaRefs>
    <ds:schemaRef ds:uri="85defd81-062c-43ad-8066-b7b8ee7d218b"/>
    <ds:schemaRef ds:uri="a7a5ee82-ca89-4470-8b75-2cc9caf6bd2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6E5101-1DD7-401B-90C6-B5545EAE1834}">
  <ds:schemaRefs>
    <ds:schemaRef ds:uri="85defd81-062c-43ad-8066-b7b8ee7d218b"/>
    <ds:schemaRef ds:uri="a7a5ee82-ca89-4470-8b75-2cc9caf6bd2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Ampera HR</dc:creator>
  <cp:revision>52</cp:revision>
  <dcterms:created xsi:type="dcterms:W3CDTF">2024-03-11T10:32:49Z</dcterms:created>
  <dcterms:modified xsi:type="dcterms:W3CDTF">2026-05-20T10:44:19Z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0x0101009E1B06A78D6F9045963DD1A73A167608</vt:lpwstr>
  </property>
</Properties>
</file>